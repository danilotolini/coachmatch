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Lexend SemiBold"/>
      <p:regular r:id="rId15"/>
      <p:bold r:id="rId16"/>
    </p:embeddedFont>
    <p:embeddedFont>
      <p:font typeface="Lexend Medium"/>
      <p:regular r:id="rId17"/>
      <p:bold r:id="rId18"/>
    </p:embeddedFont>
    <p:embeddedFont>
      <p:font typeface="Lexend"/>
      <p:regular r:id="rId19"/>
      <p:bold r:id="rId20"/>
    </p:embeddedFont>
    <p:embeddedFont>
      <p:font typeface="Lexend Black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exendBlac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exend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LexendMedium-regular.fntdata"/><Relationship Id="rId16" Type="http://schemas.openxmlformats.org/officeDocument/2006/relationships/font" Target="fonts/LexendSemi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exend-regular.fntdata"/><Relationship Id="rId6" Type="http://schemas.openxmlformats.org/officeDocument/2006/relationships/slide" Target="slides/slide1.xml"/><Relationship Id="rId18" Type="http://schemas.openxmlformats.org/officeDocument/2006/relationships/font" Target="fonts/Lexend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d6ca0742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d6ca0742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4242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é esperado que os alunos tragam a visão de sua jornada desde a ideação, planejamento, escopo e quebra dos entregáveis para que o objetivo do MVP fosse alcançado</a:t>
            </a:r>
            <a:endParaRPr sz="1050">
              <a:solidFill>
                <a:srgbClr val="24242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4242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Incluir BMC?</a:t>
            </a:r>
            <a:endParaRPr sz="1050">
              <a:solidFill>
                <a:srgbClr val="24242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196b2cd5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196b2cd5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4242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é esperado que os alunos tragam a visão de sua jornada desde a ideação, planejamento, escopo e quebra dos entregáveis para que o objetivo do MVP fosse alcançado</a:t>
            </a:r>
            <a:endParaRPr sz="1050">
              <a:solidFill>
                <a:srgbClr val="24242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4242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Incluir BMC?</a:t>
            </a:r>
            <a:endParaRPr sz="1050">
              <a:solidFill>
                <a:srgbClr val="24242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d7971f40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d7971f40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24242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é esperado que os alunos tragam uma visão do design da arquitetura no modelo C4 e mostrem quais estilos arquiteturais foram utilizados bem como sua justificativa.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d6ca0742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d6ca0742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é esperado que os alunos possam apresentar as técnicas que os ajudaram em seu desenvolvimento seja em relação a testes / qualidade ou design de código / padrões aplicados. É esperado também que a stack de tecnologia seja apresentada assim como a justificativa de sua escolha.</a:t>
            </a:r>
            <a:br>
              <a:rPr lang="pt-BR"/>
            </a:br>
            <a:br>
              <a:rPr lang="pt-BR"/>
            </a:br>
            <a:r>
              <a:rPr lang="pt-BR"/>
              <a:t>João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d6ca0742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d6ca0742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o que foi alcançado / aprendido, é esperado que seja discutido os highlights e lowlights do projeto, aprendizados e principais dificuldades e como isso influenciou de forma positiva ou negativa o projeto final.</a:t>
            </a:r>
            <a:br>
              <a:rPr lang="pt-BR"/>
            </a:br>
            <a:br>
              <a:rPr lang="pt-BR"/>
            </a:br>
            <a:r>
              <a:rPr lang="pt-BR"/>
              <a:t>Danilo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6ca0742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ed6ca0742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Ramon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6ca0742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d6ca0742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Derik (10 min)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d6ca0742f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d6ca0742f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3" Type="http://schemas.openxmlformats.org/officeDocument/2006/relationships/image" Target="../media/image17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5" Type="http://schemas.openxmlformats.org/officeDocument/2006/relationships/image" Target="../media/image18.png"/><Relationship Id="rId14" Type="http://schemas.openxmlformats.org/officeDocument/2006/relationships/image" Target="../media/image2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6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://drive.google.com/file/d/1mWNg8ggPoXXQIF2Wb77SWzALZ_vP6Wk1/view" TargetMode="External"/><Relationship Id="rId5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5149451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58464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874175" y="854004"/>
            <a:ext cx="3823200" cy="58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COACHMATCH</a:t>
            </a:r>
            <a:r>
              <a:rPr lang="pt-BR" sz="1800">
                <a:solidFill>
                  <a:srgbClr val="F4FFC6"/>
                </a:solidFill>
                <a:latin typeface="Lexend Black"/>
                <a:ea typeface="Lexend Black"/>
                <a:cs typeface="Lexend Black"/>
                <a:sym typeface="Lexend Black"/>
              </a:rPr>
              <a:t>.com.br</a:t>
            </a:r>
            <a:endParaRPr sz="22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3445" y="4192700"/>
            <a:ext cx="841175" cy="8325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4874175" y="1301056"/>
            <a:ext cx="382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Projeto Integrador Desenvolvimento e Gestão Ágil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077175" y="1987576"/>
            <a:ext cx="3107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Integrantes</a:t>
            </a:r>
            <a:r>
              <a:rPr lang="pt-BR"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: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Danilo dos San</a:t>
            </a: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tos Tolini Martins </a:t>
            </a:r>
            <a:r>
              <a:rPr lang="pt-BR" sz="800">
                <a:solidFill>
                  <a:schemeClr val="lt2"/>
                </a:solidFill>
              </a:rPr>
              <a:t>• ra0037</a:t>
            </a:r>
            <a:r>
              <a:rPr lang="pt-BR" sz="800">
                <a:solidFill>
                  <a:schemeClr val="lt2"/>
                </a:solidFill>
              </a:rPr>
              <a:t>4008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Derik Rodrigues de Oliveira</a:t>
            </a:r>
            <a:r>
              <a:rPr lang="pt-BR" sz="800">
                <a:solidFill>
                  <a:schemeClr val="lt2"/>
                </a:solidFill>
              </a:rPr>
              <a:t> • ra00373696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João Pedro de Souza Oliveira</a:t>
            </a:r>
            <a:r>
              <a:rPr lang="pt-BR" sz="800">
                <a:solidFill>
                  <a:schemeClr val="lt2"/>
                </a:solidFill>
              </a:rPr>
              <a:t> • ra00320412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Luiz Filipe Kruger de Oliveira</a:t>
            </a:r>
            <a:r>
              <a:rPr lang="pt-BR" sz="1000">
                <a:solidFill>
                  <a:schemeClr val="lt1"/>
                </a:solidFill>
              </a:rPr>
              <a:t> </a:t>
            </a:r>
            <a:r>
              <a:rPr lang="pt-BR" sz="800">
                <a:solidFill>
                  <a:schemeClr val="lt2"/>
                </a:solidFill>
              </a:rPr>
              <a:t>• ra00375634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Ramon Cruz Sousa</a:t>
            </a:r>
            <a:r>
              <a:rPr lang="pt-BR" sz="1000">
                <a:solidFill>
                  <a:schemeClr val="lt1"/>
                </a:solidFill>
              </a:rPr>
              <a:t>  </a:t>
            </a:r>
            <a:r>
              <a:rPr lang="pt-BR" sz="800">
                <a:solidFill>
                  <a:schemeClr val="lt2"/>
                </a:solidFill>
              </a:rPr>
              <a:t>• ra00373387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5082200" y="3448717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Professores:</a:t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Jose Teodoro da Silva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Marvin Ferreira da Silva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Renato Manzan de Andrade</a:t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876925" y="1482101"/>
            <a:ext cx="382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lt2"/>
                </a:solidFill>
              </a:rPr>
              <a:t>MBA em Engenharia de Software • PUC-SP •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 amt="60000"/>
          </a:blip>
          <a:srcRect b="0" l="26659" r="0" t="0"/>
          <a:stretch/>
        </p:blipFill>
        <p:spPr>
          <a:xfrm>
            <a:off x="1" y="0"/>
            <a:ext cx="3740749" cy="511064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0" y="0"/>
            <a:ext cx="42108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960875" y="4725750"/>
            <a:ext cx="1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</a:t>
            </a: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H</a:t>
            </a:r>
            <a:r>
              <a:rPr lang="pt-BR" sz="500">
                <a:solidFill>
                  <a:srgbClr val="F4FFC6"/>
                </a:solidFill>
                <a:latin typeface="Lexend Black"/>
                <a:ea typeface="Lexend Black"/>
                <a:cs typeface="Lexend Black"/>
                <a:sym typeface="Lexend Black"/>
              </a:rPr>
              <a:t>.com.br</a:t>
            </a:r>
            <a:endParaRPr sz="9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8777" y="4710450"/>
            <a:ext cx="404346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368500" y="0"/>
            <a:ext cx="67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Produto e Planejamento</a:t>
            </a:r>
            <a:endParaRPr b="1" sz="17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0" y="398725"/>
            <a:ext cx="9191100" cy="60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2FDC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1776650" y="473924"/>
            <a:ext cx="310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Produto: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880350" y="784073"/>
            <a:ext cx="722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Visão do produto:</a:t>
            </a:r>
            <a:endParaRPr sz="10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O CoachMatch é uma plataforma que conecta alunos e coaches esportivos, permitindo a busca de profissionais, gerenciamento de disponibilidade e agendamento de aulas.</a:t>
            </a:r>
            <a:endParaRPr sz="10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5491750" y="1498955"/>
            <a:ext cx="36114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Problema resolvido:</a:t>
            </a:r>
            <a:endParaRPr sz="10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Dificuldade de encontrar coaches especializados.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Processo manual de agendamento.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Falta de visibilidade sobre horários disponíveis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1880350" y="2482083"/>
            <a:ext cx="310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Planejamento</a:t>
            </a: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1880350" y="1487418"/>
            <a:ext cx="361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Público-Alvo</a:t>
            </a:r>
            <a:r>
              <a:rPr lang="pt-BR" sz="1000">
                <a:solidFill>
                  <a:schemeClr val="lt1"/>
                </a:solidFill>
                <a:latin typeface="Lexend Medium"/>
                <a:ea typeface="Lexend Medium"/>
                <a:cs typeface="Lexend Medium"/>
                <a:sym typeface="Lexend Medium"/>
              </a:rPr>
              <a:t>:</a:t>
            </a:r>
            <a:endParaRPr sz="10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Alunos que buscam treinamento esportivo.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Coaches que desejam divulgar seus serviços.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Academias parceiras</a:t>
            </a:r>
            <a:endParaRPr sz="10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3500" y="4838613"/>
            <a:ext cx="2033900" cy="159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 rotWithShape="1">
          <a:blip r:embed="rId6">
            <a:alphaModFix/>
          </a:blip>
          <a:srcRect b="6050" l="0" r="0" t="0"/>
          <a:stretch/>
        </p:blipFill>
        <p:spPr>
          <a:xfrm>
            <a:off x="6395350" y="2921675"/>
            <a:ext cx="2553450" cy="17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92225" y="2751622"/>
            <a:ext cx="4090054" cy="20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52425" y="2789775"/>
            <a:ext cx="2106376" cy="1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 amt="60000"/>
          </a:blip>
          <a:srcRect b="0" l="26659" r="0" t="0"/>
          <a:stretch/>
        </p:blipFill>
        <p:spPr>
          <a:xfrm>
            <a:off x="1" y="0"/>
            <a:ext cx="3740749" cy="511064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0" y="0"/>
            <a:ext cx="42108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6960875" y="4725750"/>
            <a:ext cx="1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COACHMATCH</a:t>
            </a:r>
            <a:r>
              <a:rPr lang="pt-BR" sz="500">
                <a:solidFill>
                  <a:srgbClr val="F4FFC6"/>
                </a:solidFill>
                <a:latin typeface="Lexend Black"/>
                <a:ea typeface="Lexend Black"/>
                <a:cs typeface="Lexend Black"/>
                <a:sym typeface="Lexend Black"/>
              </a:rPr>
              <a:t>.com.br</a:t>
            </a:r>
            <a:endParaRPr sz="9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68777" y="4710450"/>
            <a:ext cx="404346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 txBox="1"/>
          <p:nvPr/>
        </p:nvSpPr>
        <p:spPr>
          <a:xfrm>
            <a:off x="2368500" y="0"/>
            <a:ext cx="67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Produto e Planejamento</a:t>
            </a:r>
            <a:endParaRPr b="1" sz="17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0" y="398725"/>
            <a:ext cx="9191100" cy="60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2FDC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316825" y="363324"/>
            <a:ext cx="310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BMC</a:t>
            </a: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259000" y="812625"/>
            <a:ext cx="1680000" cy="2700300"/>
          </a:xfrm>
          <a:prstGeom prst="roundRect">
            <a:avLst>
              <a:gd fmla="val 9239" name="adj"/>
            </a:avLst>
          </a:prstGeom>
          <a:noFill/>
          <a:ln cap="flat" cmpd="sng" w="2100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00775" lIns="100775" spcFirstLastPara="1" rIns="100775" wrap="square" tIns="100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61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Key Partners</a:t>
            </a:r>
            <a:endParaRPr sz="1102">
              <a:solidFill>
                <a:srgbClr val="F2FDC3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1997364" y="812625"/>
            <a:ext cx="1680000" cy="1313700"/>
          </a:xfrm>
          <a:prstGeom prst="roundRect">
            <a:avLst>
              <a:gd fmla="val 9239" name="adj"/>
            </a:avLst>
          </a:prstGeom>
          <a:noFill/>
          <a:ln cap="flat" cmpd="sng" w="2100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00775" lIns="100775" spcFirstLastPara="1" rIns="100775" wrap="square" tIns="10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61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Key Activities</a:t>
            </a:r>
            <a:endParaRPr sz="1102"/>
          </a:p>
        </p:txBody>
      </p:sp>
      <p:sp>
        <p:nvSpPr>
          <p:cNvPr id="94" name="Google Shape;94;p15"/>
          <p:cNvSpPr/>
          <p:nvPr/>
        </p:nvSpPr>
        <p:spPr>
          <a:xfrm>
            <a:off x="1997364" y="2199002"/>
            <a:ext cx="1680000" cy="1313700"/>
          </a:xfrm>
          <a:prstGeom prst="roundRect">
            <a:avLst>
              <a:gd fmla="val 9239" name="adj"/>
            </a:avLst>
          </a:prstGeom>
          <a:noFill/>
          <a:ln cap="flat" cmpd="sng" w="2100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00775" lIns="100775" spcFirstLastPara="1" rIns="100775" wrap="square" tIns="10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61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Key Resources</a:t>
            </a:r>
            <a:endParaRPr b="1" sz="661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3735728" y="812625"/>
            <a:ext cx="1680000" cy="2700300"/>
          </a:xfrm>
          <a:prstGeom prst="roundRect">
            <a:avLst>
              <a:gd fmla="val 9239" name="adj"/>
            </a:avLst>
          </a:prstGeom>
          <a:noFill/>
          <a:ln cap="flat" cmpd="sng" w="2100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00775" lIns="100775" spcFirstLastPara="1" rIns="100775" wrap="square" tIns="10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61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Value Propositions</a:t>
            </a:r>
            <a:endParaRPr b="1" sz="661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474091" y="812625"/>
            <a:ext cx="1680000" cy="1313700"/>
          </a:xfrm>
          <a:prstGeom prst="roundRect">
            <a:avLst>
              <a:gd fmla="val 9239" name="adj"/>
            </a:avLst>
          </a:prstGeom>
          <a:noFill/>
          <a:ln cap="flat" cmpd="sng" w="2100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00775" lIns="100775" spcFirstLastPara="1" rIns="100775" wrap="square" tIns="10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61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Customer Relationships</a:t>
            </a:r>
            <a:endParaRPr b="1" sz="661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474091" y="2199002"/>
            <a:ext cx="1680000" cy="1313700"/>
          </a:xfrm>
          <a:prstGeom prst="roundRect">
            <a:avLst>
              <a:gd fmla="val 9239" name="adj"/>
            </a:avLst>
          </a:prstGeom>
          <a:noFill/>
          <a:ln cap="flat" cmpd="sng" w="2100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00775" lIns="100775" spcFirstLastPara="1" rIns="100775" wrap="square" tIns="10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61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Channels</a:t>
            </a:r>
            <a:endParaRPr b="1" sz="661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7212452" y="812625"/>
            <a:ext cx="1680000" cy="2700300"/>
          </a:xfrm>
          <a:prstGeom prst="roundRect">
            <a:avLst>
              <a:gd fmla="val 9444" name="adj"/>
            </a:avLst>
          </a:prstGeom>
          <a:noFill/>
          <a:ln cap="flat" cmpd="sng" w="2100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100775" lIns="100775" spcFirstLastPara="1" rIns="100775" wrap="square" tIns="100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61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Market Segments</a:t>
            </a:r>
            <a:endParaRPr b="1" sz="661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258988" y="3623525"/>
            <a:ext cx="4250700" cy="1020600"/>
          </a:xfrm>
          <a:prstGeom prst="roundRect">
            <a:avLst>
              <a:gd fmla="val 9239" name="adj"/>
            </a:avLst>
          </a:prstGeom>
          <a:noFill/>
          <a:ln cap="flat" cmpd="sng" w="1905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Cost Structures</a:t>
            </a:r>
            <a:endParaRPr b="1" sz="6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582707" y="3623525"/>
            <a:ext cx="4302300" cy="1020600"/>
          </a:xfrm>
          <a:prstGeom prst="roundRect">
            <a:avLst>
              <a:gd fmla="val 9239" name="adj"/>
            </a:avLst>
          </a:prstGeom>
          <a:noFill/>
          <a:ln cap="flat" cmpd="sng" w="19050">
            <a:solidFill>
              <a:srgbClr val="F2FD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Revenue Structures</a:t>
            </a:r>
            <a:endParaRPr b="1" sz="6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507200" y="1206875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500">
                <a:solidFill>
                  <a:schemeClr val="lt1"/>
                </a:solidFill>
              </a:rPr>
              <a:t>Parcerias com marcas do segmento fitness (suplementos,</a:t>
            </a:r>
            <a:endParaRPr b="1" sz="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500">
                <a:solidFill>
                  <a:schemeClr val="lt1"/>
                </a:solidFill>
              </a:rPr>
              <a:t>equipamentos</a:t>
            </a:r>
            <a:r>
              <a:rPr b="1" lang="pt-BR" sz="500">
                <a:solidFill>
                  <a:schemeClr val="lt1"/>
                </a:solidFill>
              </a:rPr>
              <a:t>, vestuário), que contribuem com divulgação, monetização e fortalecimento da marca.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507200" y="1865022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Alianças estratégicas com academias, possibilitando a divulgação de profissionais vinculados a esses espaços e ampliando a base de oferta da plataforma.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507200" y="2523169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Parcerias com profissionais e especialistas do setor, que auxiliam na validação da solução e na construção de credibilidade.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2870002" y="1091875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Garantia de qualidade dos profissionais, por meio de validação, curadoria e acompanhamento de avaliações.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2070450" y="1091875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Desenvolvimento e manutenção da plataforma, garantindo uma </a:t>
            </a:r>
            <a:r>
              <a:rPr b="1" lang="pt-BR" sz="400">
                <a:solidFill>
                  <a:schemeClr val="lt1"/>
                </a:solidFill>
              </a:rPr>
              <a:t>experiência</a:t>
            </a:r>
            <a:r>
              <a:rPr b="1" lang="pt-BR" sz="400">
                <a:solidFill>
                  <a:schemeClr val="lt1"/>
                </a:solidFill>
              </a:rPr>
              <a:t> simples, rápida e confiável para o usuário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2463738" y="1572630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Operação da plataforma, incluindo gestão de pagamentos, intermediação das transações, suporte ao usuário e resolução de conflitos.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015900" y="1206875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Reduzir a incerteza na escolha de profissionais, permitindo que o cliente identifique qualidade e confiabilidade antes da contratação.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015900" y="1865022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Economizar tempo ao conectar rapidamente o cliente a profissionais relevantes, evitando buscas fragmentadas em múltiplas plataformas.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015900" y="2523169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Dar voz ao cliente por meio de avaliações e feedbacks, aumentando a confiança na escolha e melhorando continuamente a qualidade dos serviços.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325665" y="1091875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Aquisição baseada na redução da incerteza na escolha de profissionais e na rapidez em encontrar opções confiáveis.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526113" y="1091875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Retenção sustentada pela confiança construída na plataforma, consistência na qualidade dos profissionais e facilidade de reutilização.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919400" y="1572630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Expansão por meio do uso recorrente para diferentes necessidades, geração de avaliações e indicações para outros usuários.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319165" y="2655475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PWA como canal principal de acesso e entrega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519613" y="2655475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Redes </a:t>
            </a:r>
            <a:r>
              <a:rPr b="1" lang="pt-BR" sz="400">
                <a:solidFill>
                  <a:schemeClr val="lt1"/>
                </a:solidFill>
              </a:rPr>
              <a:t>sociais</a:t>
            </a:r>
            <a:r>
              <a:rPr b="1" lang="pt-BR" sz="400">
                <a:solidFill>
                  <a:schemeClr val="lt1"/>
                </a:solidFill>
              </a:rPr>
              <a:t> como principal canal de aquisição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2848940" y="2479625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Profissionais de engenharia de software responsáveis pelo desenvolvimento, manutenção e evolução da plataforma.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2049388" y="2479625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Infraestrutura em nuvem para garantir disponibilidade, escalabilidade e armazenamento de dados.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442675" y="2960380"/>
            <a:ext cx="776400" cy="438900"/>
          </a:xfrm>
          <a:prstGeom prst="rect">
            <a:avLst/>
          </a:prstGeom>
          <a:noFill/>
          <a:ln cap="flat" cmpd="sng" w="63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75" lIns="23975" spcFirstLastPara="1" rIns="23975" wrap="square" tIns="11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">
                <a:solidFill>
                  <a:schemeClr val="lt1"/>
                </a:solidFill>
              </a:rPr>
              <a:t>Consultoria e validação com profissionais do segmento fitness, garantindo qualidade e aderência da solução ao mercado.</a:t>
            </a:r>
            <a:endParaRPr b="1" sz="400">
              <a:solidFill>
                <a:schemeClr val="lt1"/>
              </a:solidFill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741175" y="3911044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Publicidade: divulgação du marcas de suplementos (Max, Growth, Integral, equipamentos fitness e outros produtos do segmento (fiber, Centauro, Track&amp;field)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919400" y="3911044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Cobrança de uma comissão sobre o agendamento realizado com o aluno, pelo menos no primeiro contato.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474450" y="1179450"/>
            <a:ext cx="1088700" cy="6579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Pessoas que frequentam academia ou estão começando alguma atividade física, e que dependem de um profissional de educação física, personal trainer ou coach por falta de tempo ou conhecimento para montar e manter uma rotina de treinos.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474450" y="1900072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Pessoas menos inseridas no meio fitness, como iniciantes ou recém- chegados à academia, que não conhecem bem os profissionais disponíveis nem sabem avaliar a qualidade do trabalho deles.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7474450" y="2558219"/>
            <a:ext cx="10887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Adultos com rotina de trabalho mais corrida, que têm pouco tempo para pesquisar e comparar profissionais em diferentes plataformas, como redes sociais.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90852" y="3911044"/>
            <a:ext cx="9600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Custos com desenvolvimento e manutenção da plataforma, incluindo equipe de engenharia de software.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429856" y="3911044"/>
            <a:ext cx="9600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Custos com infraestrutura em nuvem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468860" y="3911044"/>
            <a:ext cx="9600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Investimentos em marketing e aquisição de usuários, especialmente em redes aquisição e gestão de sociais e parcerias.</a:t>
            </a:r>
            <a:endParaRPr b="1" sz="500">
              <a:solidFill>
                <a:schemeClr val="lt1"/>
              </a:solidFill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491140" y="3911044"/>
            <a:ext cx="960000" cy="595500"/>
          </a:xfrm>
          <a:prstGeom prst="rect">
            <a:avLst/>
          </a:prstGeom>
          <a:noFill/>
          <a:ln cap="flat" cmpd="sng" w="86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275" lIns="32525" spcFirstLastPara="1" rIns="32525" wrap="square" tIns="1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00">
                <a:solidFill>
                  <a:schemeClr val="lt1"/>
                </a:solidFill>
              </a:rPr>
              <a:t>Custos relacionados à aquisição e gestão de profissionais na plataforma.</a:t>
            </a:r>
            <a:endParaRPr b="1" sz="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/>
        </p:nvSpPr>
        <p:spPr>
          <a:xfrm>
            <a:off x="6960875" y="4725750"/>
            <a:ext cx="1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COACHMATCH</a:t>
            </a:r>
            <a:r>
              <a:rPr lang="pt-BR" sz="500">
                <a:solidFill>
                  <a:srgbClr val="F4FFC6"/>
                </a:solidFill>
                <a:latin typeface="Lexend Black"/>
                <a:ea typeface="Lexend Black"/>
                <a:cs typeface="Lexend Black"/>
                <a:sym typeface="Lexend Black"/>
              </a:rPr>
              <a:t>.com.br</a:t>
            </a:r>
            <a:endParaRPr sz="9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8777" y="4710450"/>
            <a:ext cx="404346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 rotWithShape="1">
          <a:blip r:embed="rId4">
            <a:alphaModFix amt="60000"/>
          </a:blip>
          <a:srcRect b="0" l="20417" r="13120" t="0"/>
          <a:stretch/>
        </p:blipFill>
        <p:spPr>
          <a:xfrm>
            <a:off x="0" y="0"/>
            <a:ext cx="34318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/>
          <p:nvPr/>
        </p:nvSpPr>
        <p:spPr>
          <a:xfrm>
            <a:off x="0" y="0"/>
            <a:ext cx="37665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0" y="398725"/>
            <a:ext cx="9191100" cy="60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2FDC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2368500" y="0"/>
            <a:ext cx="67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Design e Arquitetura</a:t>
            </a:r>
            <a:endParaRPr b="1" sz="17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5035569" y="459325"/>
            <a:ext cx="166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C4 Model: Contexto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2998325" y="3721925"/>
            <a:ext cx="3274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Baixo custo operacional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Alta 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disponibilidade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Escalabilidade automática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Não exige administração de servidores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Adequado para MVP e startups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</p:txBody>
      </p:sp>
      <p:grpSp>
        <p:nvGrpSpPr>
          <p:cNvPr id="139" name="Google Shape;139;p16"/>
          <p:cNvGrpSpPr/>
          <p:nvPr/>
        </p:nvGrpSpPr>
        <p:grpSpPr>
          <a:xfrm>
            <a:off x="6390700" y="3608175"/>
            <a:ext cx="1541625" cy="1089350"/>
            <a:chOff x="6061100" y="3656250"/>
            <a:chExt cx="1541625" cy="1089350"/>
          </a:xfrm>
        </p:grpSpPr>
        <p:pic>
          <p:nvPicPr>
            <p:cNvPr id="140" name="Google Shape;140;p16"/>
            <p:cNvPicPr preferRelativeResize="0"/>
            <p:nvPr/>
          </p:nvPicPr>
          <p:blipFill rotWithShape="1">
            <a:blip r:embed="rId5">
              <a:alphaModFix/>
            </a:blip>
            <a:srcRect b="86396" l="46954" r="14687" t="5591"/>
            <a:stretch/>
          </p:blipFill>
          <p:spPr>
            <a:xfrm>
              <a:off x="6107900" y="3763326"/>
              <a:ext cx="591350" cy="464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061100" y="3656250"/>
              <a:ext cx="1541625" cy="1089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2" name="Google Shape;142;p16"/>
          <p:cNvSpPr txBox="1"/>
          <p:nvPr/>
        </p:nvSpPr>
        <p:spPr>
          <a:xfrm>
            <a:off x="2727988" y="3396149"/>
            <a:ext cx="310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Serveless: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786500" y="465788"/>
            <a:ext cx="111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Arquitetura:</a:t>
            </a:r>
            <a:endParaRPr/>
          </a:p>
        </p:txBody>
      </p:sp>
      <p:pic>
        <p:nvPicPr>
          <p:cNvPr id="144" name="Google Shape;14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3968" y="831525"/>
            <a:ext cx="3463758" cy="256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87725" y="908450"/>
            <a:ext cx="4085399" cy="2639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3058226" y="759407"/>
            <a:ext cx="1078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Front-end</a:t>
            </a:r>
            <a:endParaRPr sz="11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Node.js</a:t>
            </a:r>
            <a:endParaRPr sz="9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85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900"/>
              <a:buChar char="●"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React</a:t>
            </a:r>
            <a:endParaRPr sz="9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960875" y="4725750"/>
            <a:ext cx="1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COACHMATCH</a:t>
            </a:r>
            <a:r>
              <a:rPr lang="pt-BR" sz="500">
                <a:solidFill>
                  <a:srgbClr val="F4FFC6"/>
                </a:solidFill>
                <a:latin typeface="Lexend Black"/>
                <a:ea typeface="Lexend Black"/>
                <a:cs typeface="Lexend Black"/>
                <a:sym typeface="Lexend Black"/>
              </a:rPr>
              <a:t>.com.br</a:t>
            </a:r>
            <a:endParaRPr sz="9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8777" y="4710450"/>
            <a:ext cx="404346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7636" r="32047" t="0"/>
          <a:stretch/>
        </p:blipFill>
        <p:spPr>
          <a:xfrm>
            <a:off x="-92600" y="0"/>
            <a:ext cx="3090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-274250" y="0"/>
            <a:ext cx="32718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2368500" y="0"/>
            <a:ext cx="67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Tecnologias</a:t>
            </a:r>
            <a:endParaRPr b="1" sz="17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0" y="398725"/>
            <a:ext cx="9191100" cy="60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2FDC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ícone de Nodejs original logo" id="157" name="Google Shape;15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0624" y="1026024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ysics free icon" id="158" name="Google Shape;158;p17" title="Physics free ico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10624" y="1222581"/>
            <a:ext cx="180000" cy="174857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4525219" y="759407"/>
            <a:ext cx="1078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Back</a:t>
            </a: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-end</a:t>
            </a:r>
            <a:endParaRPr sz="11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Node.js</a:t>
            </a:r>
            <a:endParaRPr sz="9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85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900"/>
              <a:buChar char="●"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Python</a:t>
            </a:r>
            <a:endParaRPr sz="9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52123" y="1257166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 de Nodejs original logo" id="161" name="Google Shape;16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120" y="1036155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992212" y="759407"/>
            <a:ext cx="1078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API</a:t>
            </a:r>
            <a:endParaRPr sz="11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API </a:t>
            </a: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GW</a:t>
            </a:r>
            <a:endParaRPr sz="9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857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900"/>
              <a:buChar char="●"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Lambda</a:t>
            </a:r>
            <a:endParaRPr sz="9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8">
            <a:alphaModFix/>
          </a:blip>
          <a:srcRect b="11987" l="12994" r="12111" t="13280"/>
          <a:stretch/>
        </p:blipFill>
        <p:spPr>
          <a:xfrm>
            <a:off x="6193630" y="1257185"/>
            <a:ext cx="180000" cy="180000"/>
          </a:xfrm>
          <a:prstGeom prst="roundRect">
            <a:avLst>
              <a:gd fmla="val 17107" name="adj"/>
            </a:avLst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93634" y="1036144"/>
            <a:ext cx="180000" cy="18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7459205" y="759407"/>
            <a:ext cx="12231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Infra as Code</a:t>
            </a:r>
            <a:endParaRPr sz="11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Serveless</a:t>
            </a:r>
            <a:endParaRPr sz="9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10">
            <a:alphaModFix/>
          </a:blip>
          <a:srcRect b="24790" l="22207" r="20588" t="25432"/>
          <a:stretch/>
        </p:blipFill>
        <p:spPr>
          <a:xfrm>
            <a:off x="7666355" y="1044644"/>
            <a:ext cx="180000" cy="14275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3058226" y="1547666"/>
            <a:ext cx="13404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Banco de Dados</a:t>
            </a:r>
            <a:endParaRPr sz="11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DynamoDB</a:t>
            </a:r>
            <a:endParaRPr sz="9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68" name="Google Shape;168;p17"/>
          <p:cNvPicPr preferRelativeResize="0"/>
          <p:nvPr/>
        </p:nvPicPr>
        <p:blipFill rotWithShape="1">
          <a:blip r:embed="rId11">
            <a:alphaModFix/>
          </a:blip>
          <a:srcRect b="2460" l="2616" r="2264" t="3289"/>
          <a:stretch/>
        </p:blipFill>
        <p:spPr>
          <a:xfrm>
            <a:off x="3310616" y="1828010"/>
            <a:ext cx="180000" cy="17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525219" y="1547666"/>
            <a:ext cx="13404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Autentica</a:t>
            </a: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ção</a:t>
            </a:r>
            <a:endParaRPr sz="11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Cognito</a:t>
            </a:r>
            <a:endParaRPr sz="9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992212" y="1547666"/>
            <a:ext cx="1340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Hospedagem</a:t>
            </a:r>
            <a:endParaRPr sz="11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CloudFront</a:t>
            </a:r>
            <a:endParaRPr sz="9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S3</a:t>
            </a:r>
            <a:endParaRPr sz="900">
              <a:solidFill>
                <a:srgbClr val="D9D9D9"/>
              </a:solidFill>
              <a:highlight>
                <a:schemeClr val="dk1"/>
              </a:highlight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7459205" y="1547666"/>
            <a:ext cx="13404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8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Filas</a:t>
            </a:r>
            <a:endParaRPr sz="11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D9D9D9"/>
                </a:solidFill>
                <a:highlight>
                  <a:schemeClr val="dk1"/>
                </a:highlight>
              </a:rPr>
              <a:t>SQS</a:t>
            </a:r>
            <a:endParaRPr sz="900">
              <a:solidFill>
                <a:schemeClr val="lt1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172" name="Google Shape;172;p17"/>
          <p:cNvPicPr preferRelativeResize="0"/>
          <p:nvPr/>
        </p:nvPicPr>
        <p:blipFill rotWithShape="1">
          <a:blip r:embed="rId12">
            <a:alphaModFix/>
          </a:blip>
          <a:srcRect b="16550" l="12860" r="13486" t="14778"/>
          <a:stretch/>
        </p:blipFill>
        <p:spPr>
          <a:xfrm>
            <a:off x="7666341" y="1828522"/>
            <a:ext cx="180000" cy="167400"/>
          </a:xfrm>
          <a:prstGeom prst="roundRect">
            <a:avLst>
              <a:gd fmla="val 14569" name="adj"/>
            </a:avLst>
          </a:prstGeom>
          <a:noFill/>
          <a:ln>
            <a:noFill/>
          </a:ln>
        </p:spPr>
      </p:pic>
      <p:pic>
        <p:nvPicPr>
          <p:cNvPr id="173" name="Google Shape;173;p17"/>
          <p:cNvPicPr preferRelativeResize="0"/>
          <p:nvPr/>
        </p:nvPicPr>
        <p:blipFill rotWithShape="1">
          <a:blip r:embed="rId13">
            <a:alphaModFix/>
          </a:blip>
          <a:srcRect b="13568" l="30026" r="31581" t="9821"/>
          <a:stretch/>
        </p:blipFill>
        <p:spPr>
          <a:xfrm>
            <a:off x="6193635" y="2057715"/>
            <a:ext cx="180000" cy="176400"/>
          </a:xfrm>
          <a:prstGeom prst="roundRect">
            <a:avLst>
              <a:gd fmla="val 15375" name="adj"/>
            </a:avLst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 rotWithShape="1">
          <a:blip r:embed="rId14">
            <a:alphaModFix/>
          </a:blip>
          <a:srcRect b="15528" l="13102" r="14350" t="14464"/>
          <a:stretch/>
        </p:blipFill>
        <p:spPr>
          <a:xfrm>
            <a:off x="6193635" y="1828019"/>
            <a:ext cx="180000" cy="172500"/>
          </a:xfrm>
          <a:prstGeom prst="roundRect">
            <a:avLst>
              <a:gd fmla="val 21284" name="adj"/>
            </a:avLst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 rotWithShape="1">
          <a:blip r:embed="rId15">
            <a:alphaModFix/>
          </a:blip>
          <a:srcRect b="14087" l="9450" r="8664" t="10139"/>
          <a:stretch/>
        </p:blipFill>
        <p:spPr>
          <a:xfrm>
            <a:off x="4752129" y="1833270"/>
            <a:ext cx="180000" cy="162300"/>
          </a:xfrm>
          <a:prstGeom prst="roundRect">
            <a:avLst>
              <a:gd fmla="val 17635" name="adj"/>
            </a:avLst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2623825" y="435799"/>
            <a:ext cx="310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Stack utilizada</a:t>
            </a: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2623825" y="2571761"/>
            <a:ext cx="310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Técnicas que ajudaram</a:t>
            </a: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2552400" y="2907375"/>
            <a:ext cx="6591600" cy="19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Serverless Framework para criação, deploy e execução de testes locais das funções.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Monitoramento das funções Lambda utilizando CloudWatch by design.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Separação por responsabilidades, isolando regras de negócio, acesso a dados e handlers das Lambdas.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Padronização dos contratos JSON entre frontend e backend.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Validações de entrada nas requisições para evitar dados inválidos.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Estratégia de integração do Github baseada em Rebase.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Pipeline de CI com teste e lint.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Cobertura de código com Vitest.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/>
        </p:nvSpPr>
        <p:spPr>
          <a:xfrm>
            <a:off x="6960875" y="4725750"/>
            <a:ext cx="1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COACHMATCH</a:t>
            </a:r>
            <a:r>
              <a:rPr lang="pt-BR" sz="500">
                <a:solidFill>
                  <a:srgbClr val="F4FFC6"/>
                </a:solidFill>
                <a:latin typeface="Lexend Black"/>
                <a:ea typeface="Lexend Black"/>
                <a:cs typeface="Lexend Black"/>
                <a:sym typeface="Lexend Black"/>
              </a:rPr>
              <a:t>.com.br</a:t>
            </a:r>
            <a:endParaRPr sz="9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184" name="Google Shape;1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8777" y="4710450"/>
            <a:ext cx="404346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 rotWithShape="1">
          <a:blip r:embed="rId4">
            <a:alphaModFix/>
          </a:blip>
          <a:srcRect b="0" l="14382" r="19067" t="0"/>
          <a:stretch/>
        </p:blipFill>
        <p:spPr>
          <a:xfrm>
            <a:off x="0" y="0"/>
            <a:ext cx="33955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/>
          <p:nvPr/>
        </p:nvSpPr>
        <p:spPr>
          <a:xfrm>
            <a:off x="0" y="0"/>
            <a:ext cx="35190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0" y="398725"/>
            <a:ext cx="9191100" cy="60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2FDC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2368500" y="0"/>
            <a:ext cx="67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Resultados Finais</a:t>
            </a:r>
            <a:endParaRPr b="1" sz="17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3299200" y="872000"/>
            <a:ext cx="5702700" cy="3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Highlights:</a:t>
            </a:r>
            <a:endParaRPr b="1" sz="1000">
              <a:solidFill>
                <a:srgbClr val="F2FDC3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Entrega de um MVP funcional 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da plataforma CoachMatch.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Aplicação prática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 de conceitos de Engenharia de Software, Arquitetura e Gestão Ágil.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Construção de uma</a:t>
            </a: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 arquitetura cloud-native</a:t>
            </a:r>
            <a:r>
              <a:rPr b="1" lang="pt-BR" sz="1000">
                <a:solidFill>
                  <a:srgbClr val="D9D9D9"/>
                </a:solidFill>
                <a:highlight>
                  <a:schemeClr val="dk1"/>
                </a:highlight>
              </a:rPr>
              <a:t> 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baseada em</a:t>
            </a: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 serverless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Desenvolvimento assistido com AI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 apoiando no design, code review, testes e Git flow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Observabilidade, cobertura de testes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 (85% front / 93% back), 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Lowlights: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Curva de aprendizado das tecnologias adotadas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, especialmente AWS Cognito e Serverless Framework.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Evolução dos requisitos ao longo do projeto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, com a inclusão e refinamento de funcionalidades não previstas inicialmente.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Complexidade na integração entre Front-end e Back-end</a:t>
            </a:r>
            <a:r>
              <a:rPr b="1" lang="pt-BR" sz="1000">
                <a:solidFill>
                  <a:srgbClr val="D9D9D9"/>
                </a:solidFill>
                <a:highlight>
                  <a:schemeClr val="dk1"/>
                </a:highlight>
              </a:rPr>
              <a:t>,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 envolvendo alinhamento de contratos de API, autenticação, tratamento de erros e sincronização entre as entregas.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b="1" lang="pt-BR" sz="1000">
                <a:solidFill>
                  <a:srgbClr val="F2FDC3"/>
                </a:solidFill>
                <a:highlight>
                  <a:schemeClr val="dk1"/>
                </a:highlight>
              </a:rPr>
              <a:t>Restrições de prazo do projeto</a:t>
            </a:r>
            <a:r>
              <a:rPr b="1" lang="pt-BR" sz="1000">
                <a:solidFill>
                  <a:srgbClr val="D9D9D9"/>
                </a:solidFill>
                <a:highlight>
                  <a:schemeClr val="dk1"/>
                </a:highlight>
              </a:rPr>
              <a:t>,</a:t>
            </a: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 que levaram à priorização do MVP e adiamento de funcionalidades como pagamentos, avaliações e notificações.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197775" y="-3387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lóg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/>
        </p:nvSpPr>
        <p:spPr>
          <a:xfrm>
            <a:off x="6960875" y="4725750"/>
            <a:ext cx="1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COACHMATCH</a:t>
            </a:r>
            <a:r>
              <a:rPr lang="pt-BR" sz="500">
                <a:solidFill>
                  <a:srgbClr val="F4FFC6"/>
                </a:solidFill>
                <a:latin typeface="Lexend Black"/>
                <a:ea typeface="Lexend Black"/>
                <a:cs typeface="Lexend Black"/>
                <a:sym typeface="Lexend Black"/>
              </a:rPr>
              <a:t>.com.br</a:t>
            </a:r>
            <a:endParaRPr sz="9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196" name="Google Shape;1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8777" y="4710450"/>
            <a:ext cx="404346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14363" r="31129" t="0"/>
          <a:stretch/>
        </p:blipFill>
        <p:spPr>
          <a:xfrm>
            <a:off x="0" y="0"/>
            <a:ext cx="28429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/>
          <p:nvPr/>
        </p:nvSpPr>
        <p:spPr>
          <a:xfrm>
            <a:off x="0" y="0"/>
            <a:ext cx="29376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0" y="398725"/>
            <a:ext cx="9191100" cy="60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2FDC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2368500" y="0"/>
            <a:ext cx="67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Reflexão do que faria diferente</a:t>
            </a:r>
            <a:endParaRPr b="1" sz="17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2669325" y="607575"/>
            <a:ext cx="6235200" cy="3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00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Definir a arquitetura com maior profundidade desde o início.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Formalizar a arquitetura da aplicação e a organização do código logo nas primeiras etapas.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Padronizar tecnologias e responsabilidades entre os componentes desde o planejamento.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Priorizar a integração contínua entre Front-end e Back-end.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Realizar integrações frequentes durante todo o projeto, em vez de concentrá-las nas fases finais.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Validar contratos de APIs e fluxos completos desde as primeiras entregas.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Automatizar infraestrutura e deploy desde o primeiro dia.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Tratar Infraestrutura como Código (IaC) e CI/CD como requisitos do projeto.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Manter ambientes reproduzíveis e deploys automatizados durante toda a execução. 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Simplificar a stack tecnológica.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Reduzir a quantidade de tecnologias utilizadas no backend, adotando uma única linguagem e padrões comuns para toda a equipe.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Fortalecer práticas de qualidade e colaboração.</a:t>
            </a:r>
            <a:endParaRPr b="1" sz="10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Desenvolver testes juntamente com as funcionalidades.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Produzir documentação operacional e técnica de forma contínua.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2FDC3"/>
              </a:buClr>
              <a:buSzPts val="1000"/>
              <a:buChar char="●"/>
            </a:pPr>
            <a:r>
              <a:rPr lang="pt-BR" sz="1000">
                <a:solidFill>
                  <a:srgbClr val="D9D9D9"/>
                </a:solidFill>
                <a:highlight>
                  <a:schemeClr val="dk1"/>
                </a:highlight>
              </a:rPr>
              <a:t>Reduzir dependências entre integrantes para execução de atividades.</a:t>
            </a:r>
            <a:endParaRPr sz="1000">
              <a:solidFill>
                <a:srgbClr val="D9D9D9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6960875" y="4725750"/>
            <a:ext cx="1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COACHMATCH</a:t>
            </a:r>
            <a:r>
              <a:rPr lang="pt-BR" sz="500">
                <a:solidFill>
                  <a:srgbClr val="F4FFC6"/>
                </a:solidFill>
                <a:latin typeface="Lexend Black"/>
                <a:ea typeface="Lexend Black"/>
                <a:cs typeface="Lexend Black"/>
                <a:sym typeface="Lexend Black"/>
              </a:rPr>
              <a:t>.com.br</a:t>
            </a:r>
            <a:endParaRPr sz="9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207" name="Google Shape;2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8777" y="4710450"/>
            <a:ext cx="404346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0" y="398725"/>
            <a:ext cx="9191100" cy="60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41000">
                <a:srgbClr val="FFFFFF">
                  <a:alpha val="0"/>
                </a:srgbClr>
              </a:gs>
              <a:gs pos="100000">
                <a:srgbClr val="F2FDC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2368500" y="0"/>
            <a:ext cx="677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Demonstração MVP</a:t>
            </a:r>
            <a:endParaRPr b="1" sz="17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0" name="Google Shape;210;p20" title="Screen Recording 2026-06-20 at 07.11.05.mov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596675"/>
            <a:ext cx="6656073" cy="432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4270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0" y="0"/>
            <a:ext cx="6456900" cy="51435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79000">
                <a:srgbClr val="FFFFFF">
                  <a:alpha val="0"/>
                </a:srgbClr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931550" y="3168950"/>
            <a:ext cx="170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COACHMATC</a:t>
            </a:r>
            <a:r>
              <a:rPr lang="pt-BR" sz="1300">
                <a:solidFill>
                  <a:srgbClr val="F4FFC6"/>
                </a:solidFill>
                <a:highlight>
                  <a:srgbClr val="0E0E0E"/>
                </a:highlight>
                <a:latin typeface="Lexend Black"/>
                <a:ea typeface="Lexend Black"/>
                <a:cs typeface="Lexend Black"/>
                <a:sym typeface="Lexend Black"/>
              </a:rPr>
              <a:t>H</a:t>
            </a:r>
            <a:endParaRPr sz="900">
              <a:latin typeface="Lexend Black"/>
              <a:ea typeface="Lexend Black"/>
              <a:cs typeface="Lexend Black"/>
              <a:sym typeface="Lexend Black"/>
            </a:endParaRPr>
          </a:p>
        </p:txBody>
      </p:sp>
      <p:pic>
        <p:nvPicPr>
          <p:cNvPr id="218" name="Google Shape;2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9292" y="3553855"/>
            <a:ext cx="1196825" cy="118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6427100" y="1598825"/>
            <a:ext cx="2716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900">
                <a:solidFill>
                  <a:srgbClr val="F2FDC3"/>
                </a:solidFill>
                <a:latin typeface="Lexend"/>
                <a:ea typeface="Lexend"/>
                <a:cs typeface="Lexend"/>
                <a:sym typeface="Lexend"/>
              </a:rPr>
              <a:t>Obrigado.</a:t>
            </a:r>
            <a:endParaRPr b="1" sz="2900">
              <a:solidFill>
                <a:srgbClr val="F2FDC3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